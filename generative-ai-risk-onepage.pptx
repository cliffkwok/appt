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20040"/>
            <a:ext cx="1097280" cy="1097280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411480"/>
            <a:ext cx="914400" cy="914400"/>
          </a:xfrm>
          <a:prstGeom prst="ellipse">
            <a:avLst/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715000"/>
            <a:ext cx="1051560" cy="10515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502920"/>
            <a:ext cx="73152" cy="7315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502920"/>
            <a:ext cx="73152" cy="73152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502920"/>
            <a:ext cx="73152" cy="73152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502920"/>
            <a:ext cx="73152" cy="73152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448056"/>
            <a:ext cx="2011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1A73E8"/>
                </a:solidFill>
                <a:latin typeface="Noto Sans"/>
              </a:rPr>
              <a:t>GENERATIVE AI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731520"/>
            <a:ext cx="7726679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00" b="1">
                <a:solidFill>
                  <a:srgbClr val="202124"/>
                </a:solidFill>
                <a:latin typeface="Noto Sans"/>
              </a:rPr>
              <a:t>Poor AI use can turn useful data into exposed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804672"/>
            <a:ext cx="2880360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Noto Sans"/>
              </a:rPr>
              <a:t>The risk is rarely the model alone. It comes from unsafe inputs, weak review, and public outputs.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12848" y="3273552"/>
            <a:ext cx="7388352" cy="0"/>
          </a:xfrm>
          <a:prstGeom prst="line">
            <a:avLst/>
          </a:prstGeom>
          <a:ln w="38100">
            <a:solidFill>
              <a:srgbClr val="BBC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9509760" y="3136392"/>
            <a:ext cx="201168" cy="256032"/>
          </a:xfrm>
          <a:prstGeom prst="triangle">
            <a:avLst/>
          </a:prstGeom>
          <a:solidFill>
            <a:srgbClr val="BBC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993392"/>
            <a:ext cx="2240280" cy="2514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2231136"/>
            <a:ext cx="713232" cy="256032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A73E8"/>
                </a:solidFill>
                <a:latin typeface="Noto Sans"/>
              </a:rPr>
              <a:t>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651760"/>
            <a:ext cx="694944" cy="694944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82496" y="2670048"/>
            <a:ext cx="7772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02124"/>
                </a:solidFill>
                <a:latin typeface="Noto Sans"/>
              </a:rPr>
              <a:t>Sensitive
internal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456432"/>
            <a:ext cx="169164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F6368"/>
                </a:solidFill>
                <a:latin typeface="Noto Sans"/>
              </a:rPr>
              <a:t>Meeting notes, source code, customer files, contracts, pricing, strategy, unreleased plans.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1874519"/>
            <a:ext cx="1325880" cy="256032"/>
          </a:xfrm>
          <a:prstGeom prst="roundRect">
            <a:avLst/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8A5700"/>
                </a:solidFill>
                <a:latin typeface="Noto Sans"/>
              </a:rPr>
              <a:t>UNSAFE AI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185416"/>
            <a:ext cx="292608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Noto Sans"/>
              </a:rPr>
              <a:t>Four mistakes create the leak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761488"/>
            <a:ext cx="1737360" cy="10241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10712" y="2907792"/>
            <a:ext cx="164592" cy="164592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0712" y="3145536"/>
            <a:ext cx="1417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02124"/>
                </a:solidFill>
                <a:latin typeface="Noto Sans"/>
              </a:rPr>
              <a:t>Paste raw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3383280"/>
            <a:ext cx="138988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9" b="0">
                <a:solidFill>
                  <a:srgbClr val="5F6368"/>
                </a:solidFill>
                <a:latin typeface="Noto Sans"/>
              </a:rPr>
              <a:t>Confidential files go into public or unmanaged AI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85232" y="2761488"/>
            <a:ext cx="1737360" cy="10241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49824" y="2907792"/>
            <a:ext cx="164592" cy="164592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9824" y="3145536"/>
            <a:ext cx="1417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02124"/>
                </a:solidFill>
                <a:latin typeface="Noto Sans"/>
              </a:rPr>
              <a:t>No review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4" y="3383280"/>
            <a:ext cx="138988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9" b="0">
                <a:solidFill>
                  <a:srgbClr val="5F6368"/>
                </a:solidFill>
                <a:latin typeface="Noto Sans"/>
              </a:rPr>
              <a:t>Output is shared before facts, sources, and privacy are checked.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4160520"/>
            <a:ext cx="1737360" cy="10241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10712" y="4306824"/>
            <a:ext cx="164592" cy="164592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0712" y="4544568"/>
            <a:ext cx="1417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02124"/>
                </a:solidFill>
                <a:latin typeface="Noto Sans"/>
              </a:rPr>
              <a:t>Train/test casually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0712" y="4782312"/>
            <a:ext cx="138988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9" b="0">
                <a:solidFill>
                  <a:srgbClr val="5F6368"/>
                </a:solidFill>
                <a:latin typeface="Noto Sans"/>
              </a:rPr>
              <a:t>Internal examples become prompts, fine-tuning data, or reusable context.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85232" y="4160520"/>
            <a:ext cx="1737360" cy="10241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49824" y="4306824"/>
            <a:ext cx="164592" cy="164592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9824" y="4544568"/>
            <a:ext cx="1417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02124"/>
                </a:solidFill>
                <a:latin typeface="Noto Sans"/>
              </a:rPr>
              <a:t>Public sharing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9824" y="4782312"/>
            <a:ext cx="138988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9" b="0">
                <a:solidFill>
                  <a:srgbClr val="5F6368"/>
                </a:solidFill>
                <a:latin typeface="Noto Sans"/>
              </a:rPr>
              <a:t>AI-written content reveals details that can be copied or mined.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1975104"/>
            <a:ext cx="3794760" cy="2724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7C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19872" y="2221992"/>
            <a:ext cx="804672" cy="256032"/>
          </a:xfrm>
          <a:prstGeom prst="round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D93025"/>
                </a:solidFill>
                <a:latin typeface="Noto Sans"/>
              </a:rPr>
              <a:t>IMPACT</a:t>
            </a:r>
          </a:p>
        </p:txBody>
      </p:sp>
      <p:sp>
        <p:nvSpPr>
          <p:cNvPr id="39" name="Oval 38"/>
          <p:cNvSpPr/>
          <p:nvPr/>
        </p:nvSpPr>
        <p:spPr>
          <a:xfrm>
            <a:off x="8138160" y="2633472"/>
            <a:ext cx="777240" cy="777240"/>
          </a:xfrm>
          <a:prstGeom prst="ellipse">
            <a:avLst/>
          </a:prstGeom>
          <a:solidFill>
            <a:srgbClr val="FCE8E6"/>
          </a:solidFill>
          <a:ln w="5080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2761488"/>
            <a:ext cx="164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D93025"/>
                </a:solidFill>
                <a:latin typeface="Noto Sans"/>
              </a:rP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2670048"/>
            <a:ext cx="20574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50" b="1">
                <a:solidFill>
                  <a:srgbClr val="202124"/>
                </a:solidFill>
                <a:latin typeface="Noto Sans"/>
              </a:rPr>
              <a:t>Data leakage becomes business risk</a:t>
            </a:r>
          </a:p>
        </p:txBody>
      </p:sp>
      <p:sp>
        <p:nvSpPr>
          <p:cNvPr id="42" name="Oval 41"/>
          <p:cNvSpPr/>
          <p:nvPr/>
        </p:nvSpPr>
        <p:spPr>
          <a:xfrm>
            <a:off x="8156448" y="3465576"/>
            <a:ext cx="64008" cy="64008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7" y="3401568"/>
            <a:ext cx="2880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202124"/>
                </a:solidFill>
                <a:latin typeface="Noto Sans"/>
              </a:rPr>
              <a:t>Core data, IP, or source code can be exposed.</a:t>
            </a:r>
          </a:p>
        </p:txBody>
      </p:sp>
      <p:sp>
        <p:nvSpPr>
          <p:cNvPr id="44" name="Oval 43"/>
          <p:cNvSpPr/>
          <p:nvPr/>
        </p:nvSpPr>
        <p:spPr>
          <a:xfrm>
            <a:off x="8156448" y="3776472"/>
            <a:ext cx="64008" cy="64008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7" y="3712464"/>
            <a:ext cx="2880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202124"/>
                </a:solidFill>
                <a:latin typeface="Noto Sans"/>
              </a:rPr>
              <a:t>False or sensitive AI output can spread publicly.</a:t>
            </a:r>
          </a:p>
        </p:txBody>
      </p:sp>
      <p:sp>
        <p:nvSpPr>
          <p:cNvPr id="46" name="Oval 45"/>
          <p:cNvSpPr/>
          <p:nvPr/>
        </p:nvSpPr>
        <p:spPr>
          <a:xfrm>
            <a:off x="8156448" y="4087368"/>
            <a:ext cx="64008" cy="64008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7" y="4023360"/>
            <a:ext cx="2880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202124"/>
                </a:solidFill>
                <a:latin typeface="Noto Sans"/>
              </a:rPr>
              <a:t>Attackers can reconstruct context from repeated prompts.</a:t>
            </a:r>
          </a:p>
        </p:txBody>
      </p:sp>
      <p:sp>
        <p:nvSpPr>
          <p:cNvPr id="48" name="Oval 47"/>
          <p:cNvSpPr/>
          <p:nvPr/>
        </p:nvSpPr>
        <p:spPr>
          <a:xfrm>
            <a:off x="8156448" y="4398264"/>
            <a:ext cx="64008" cy="64008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7" y="4334256"/>
            <a:ext cx="2880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202124"/>
                </a:solidFill>
                <a:latin typeface="Noto Sans"/>
              </a:rPr>
              <a:t>Trust, compliance, and market position can be damaged.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5248656"/>
            <a:ext cx="1645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88038"/>
                </a:solidFill>
                <a:latin typeface="Noto Sans"/>
              </a:rPr>
              <a:t>Safer-use guardrails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5605272"/>
            <a:ext cx="251460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74243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1">
                <a:solidFill>
                  <a:srgbClr val="188038"/>
                </a:solidFill>
                <a:latin typeface="Noto Sans"/>
              </a:rPr>
              <a:t>Minimize input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94360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Noto Sans"/>
              </a:rPr>
              <a:t>Remove secrets before prompting.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7288" y="5605272"/>
            <a:ext cx="251460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11880" y="574243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1">
                <a:solidFill>
                  <a:srgbClr val="188038"/>
                </a:solidFill>
                <a:latin typeface="Noto Sans"/>
              </a:rPr>
              <a:t>Use approved tools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1880" y="594360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Noto Sans"/>
              </a:rPr>
              <a:t>Prefer enterprise AI with data controls.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27648" y="5605272"/>
            <a:ext cx="251460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574243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1">
                <a:solidFill>
                  <a:srgbClr val="188038"/>
                </a:solidFill>
                <a:latin typeface="Noto Sans"/>
              </a:rPr>
              <a:t>Human review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594360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Noto Sans"/>
              </a:rPr>
              <a:t>Check privacy, accuracy, and ownership.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08007" y="5605272"/>
            <a:ext cx="2514600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72599" y="574243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1">
                <a:solidFill>
                  <a:srgbClr val="188038"/>
                </a:solidFill>
                <a:latin typeface="Noto Sans"/>
              </a:rPr>
              <a:t>Log and classify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2599" y="594360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Noto Sans"/>
              </a:rPr>
              <a:t>Know what data entered which model.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6428232"/>
            <a:ext cx="78638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9" b="0">
                <a:solidFill>
                  <a:srgbClr val="5F6368"/>
                </a:solidFill>
                <a:latin typeface="Noto Sans"/>
              </a:rPr>
              <a:t>Simple rule: if the data cannot be posted in a public channel, do not paste it into an unmanaged AI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